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1" r:id="rId7"/>
    <p:sldId id="282" r:id="rId8"/>
    <p:sldId id="314" r:id="rId9"/>
    <p:sldId id="315" r:id="rId10"/>
    <p:sldId id="317" r:id="rId11"/>
    <p:sldId id="318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388" autoAdjust="0"/>
  </p:normalViewPr>
  <p:slideViewPr>
    <p:cSldViewPr snapToGrid="0" snapToObjects="1">
      <p:cViewPr varScale="1">
        <p:scale>
          <a:sx n="161" d="100"/>
          <a:sy n="161" d="100"/>
        </p:scale>
        <p:origin x="150" y="1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3850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12871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481432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798576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42153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6" name="Полилиния: Фигура 6">
            <a:extLst>
              <a:ext uri="{FF2B5EF4-FFF2-40B4-BE49-F238E27FC236}">
                <a16:creationId xmlns:a16="http://schemas.microsoft.com/office/drawing/2014/main" id="{A271548B-C565-0B0F-5C22-2D4397805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3AE4ECB3-480C-5554-8B15-6B6D8A20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07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5" name="Полилиния: Фигура 5">
            <a:extLst>
              <a:ext uri="{FF2B5EF4-FFF2-40B4-BE49-F238E27FC236}">
                <a16:creationId xmlns:a16="http://schemas.microsoft.com/office/drawing/2014/main" id="{E5FF5318-EAC4-264F-2236-F1ACD80A9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E24D8478-49DF-8A41-F239-99CE2381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5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Полилиния: Фигура 10">
            <a:extLst>
              <a:ext uri="{FF2B5EF4-FFF2-40B4-BE49-F238E27FC236}">
                <a16:creationId xmlns:a16="http://schemas.microsoft.com/office/drawing/2014/main" id="{C96CD5D1-3E18-0E00-42A6-10AD852E5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99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Полилиния: фигура 10">
            <a:extLst>
              <a:ext uri="{FF2B5EF4-FFF2-40B4-BE49-F238E27FC236}">
                <a16:creationId xmlns:a16="http://schemas.microsoft.com/office/drawing/2014/main" id="{7131D420-7D08-FC5E-DC78-89C18F0BB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59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83853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6800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168012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319088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74457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345806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078531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500716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670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3276472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3196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32141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883546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92992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255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425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dirty="0"/>
              <a:t>Программа стандартизации, основные тенденции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3F4F4-4258-A8D0-D95A-6296A9267C9B}"/>
              </a:ext>
            </a:extLst>
          </p:cNvPr>
          <p:cNvSpPr txBox="1"/>
          <p:nvPr/>
        </p:nvSpPr>
        <p:spPr>
          <a:xfrm>
            <a:off x="7635834" y="5052951"/>
            <a:ext cx="4168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Адамович Александр 22204</a:t>
            </a:r>
            <a:br>
              <a:rPr lang="ru-RU" dirty="0"/>
            </a:br>
            <a:r>
              <a:rPr lang="ru-RU" dirty="0" err="1"/>
              <a:t>Мустакаев</a:t>
            </a:r>
            <a:r>
              <a:rPr lang="ru-RU" dirty="0"/>
              <a:t> Дмитрий 22204</a:t>
            </a:r>
            <a:br>
              <a:rPr lang="ru-RU" dirty="0"/>
            </a:br>
            <a:r>
              <a:rPr lang="ru-RU" dirty="0"/>
              <a:t>Соломенников Николай 22204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b="1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>
            <a:defPPr>
              <a:defRPr lang="ru-RU"/>
            </a:defPPr>
          </a:lstStyle>
          <a:p>
            <a:r>
              <a:rPr lang="ru-RU" dirty="0"/>
              <a:t>Стандартизация играет ключевую роль в обеспечении качества, совместимости и безопасности продукции, услуг и процессов в различных отраслях экономики и науки. В условиях глобализации, цифровизации и ускоренного технологического развития возрастает значение системного подхода к разработке и внедрению стандартов. Одним из инструментов такого подхода является программа стандартизации, которая определяет приоритеты, цели и направления развития нормативной базы на определённый период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Понятие и назначение программы стандартизации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>
            <a:defPPr>
              <a:defRPr lang="ru-RU"/>
            </a:defPPr>
          </a:lstStyle>
          <a:p>
            <a:pPr lvl="0"/>
            <a:r>
              <a:rPr lang="ru-RU" dirty="0"/>
              <a:t>обеспечении согласованного и планомерного развития нормативной базы;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устранении устаревших и дублирующих стандартов;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поддержке приоритетных направлений научно-технического и экономического развития;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гармонизации национальных стандартов с международными и региональными.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6F3293F6-5248-18F8-5C22-D34CD02BC7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Структура и содержание программы стандартизации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lvl="0"/>
            <a:r>
              <a:rPr lang="ru-RU" dirty="0"/>
              <a:t>разработка новых стандартов;</a:t>
            </a:r>
          </a:p>
          <a:p>
            <a:pPr lvl="0"/>
            <a:r>
              <a:rPr lang="ru-RU" dirty="0"/>
              <a:t>пересмотр и актуализация действующих стандартов;</a:t>
            </a:r>
          </a:p>
          <a:p>
            <a:pPr lvl="0"/>
            <a:r>
              <a:rPr lang="ru-RU" dirty="0"/>
              <a:t>внесение изменений и поправок;</a:t>
            </a:r>
          </a:p>
          <a:p>
            <a:pPr lvl="0"/>
            <a:r>
              <a:rPr lang="ru-RU" dirty="0"/>
              <a:t>отмена стандартов, утративших актуальность;</a:t>
            </a:r>
          </a:p>
          <a:p>
            <a:r>
              <a:rPr lang="ru-RU" dirty="0"/>
              <a:t>работы по гармонизации с международными стандартами.</a:t>
            </a:r>
          </a:p>
          <a:p>
            <a:pPr lvl="0"/>
            <a:endParaRPr lang="ru-RU" dirty="0"/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5885180" cy="252021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Основные тенденции современной стандартизации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7D97C261-6AC2-FDBF-A304-A512B7367479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1850846001"/>
              </p:ext>
            </p:extLst>
          </p:nvPr>
        </p:nvGraphicFramePr>
        <p:xfrm>
          <a:off x="3394739" y="2881884"/>
          <a:ext cx="7043736" cy="390639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414300">
                  <a:extLst>
                    <a:ext uri="{9D8B030D-6E8A-4147-A177-3AD203B41FA5}">
                      <a16:colId xmlns:a16="http://schemas.microsoft.com/office/drawing/2014/main" val="399471889"/>
                    </a:ext>
                  </a:extLst>
                </a:gridCol>
                <a:gridCol w="3629436">
                  <a:extLst>
                    <a:ext uri="{9D8B030D-6E8A-4147-A177-3AD203B41FA5}">
                      <a16:colId xmlns:a16="http://schemas.microsoft.com/office/drawing/2014/main" val="4007767621"/>
                    </a:ext>
                  </a:extLst>
                </a:gridCol>
              </a:tblGrid>
              <a:tr h="871975"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Гармонизация с международными стандартами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Сближение национальных стандартов с международными (ISO, IEC, IEEE) с целью устранения технических барьеров, повышения конкурентоспособности продукции и упрощения международного взаимодействия</a:t>
                      </a:r>
                      <a:endParaRPr lang="ru-RU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0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Опережающая стандартизация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050" dirty="0">
                          <a:solidFill>
                            <a:srgbClr val="0F1115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Разработка стандартов на ранних этапах появления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050" dirty="0">
                          <a:solidFill>
                            <a:srgbClr val="0F1115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новых технологий, что позволяет формировать единые требования до их массового внедрения</a:t>
                      </a:r>
                      <a:endParaRPr lang="ru-RU" sz="105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05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Цифровизация процессов стандартизации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Развитие стандартов в области информационных технологий, программного обеспечения, искусственного интеллекта, а также внедрение цифровых инструментов для разработки и применения стандартов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3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Ориентация на жизненный цикл продукции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Учет требований не только к конечному продукту, но и к процессам его проектирования, производства, эксплуатации и утилизации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887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Учет принципов устойчивого развития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Включение в стандарты требований по экологической безопасности, энергоэффективности, надежности и социальной ответственности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136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Роль программы стандартизации в управлении развитием отраслей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6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727269" cy="3720337"/>
          </a:xfrm>
        </p:spPr>
        <p:txBody>
          <a:bodyPr rtlCol="0">
            <a:normAutofit fontScale="85000" lnSpcReduction="10000"/>
          </a:bodyPr>
          <a:lstStyle>
            <a:defPPr>
              <a:defRPr lang="ru-RU"/>
            </a:defPPr>
          </a:lstStyle>
          <a:p>
            <a:r>
              <a:rPr lang="ru-RU" dirty="0"/>
              <a:t>Программа стандартизации выполняет стратегическую функцию, так как позволяет направлять развитие нормативной базы в соответствии с приоритетами государства и экономики. Через неё реализуется поддержка инноваций, внедрение передовых технологий и повышение качества продукции и услуг.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Кроме того, программа стандартизации обеспечивает координацию работ между различными организациями и экспертными сообществами, снижая дублирование усилий и повышая эффективность разработки стандартов.</a:t>
            </a:r>
          </a:p>
        </p:txBody>
      </p:sp>
      <p:sp>
        <p:nvSpPr>
          <p:cNvPr id="17" name="Объект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665155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65393"/>
            <a:ext cx="7155402" cy="109162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b="1" dirty="0"/>
              <a:t>Заключение</a:t>
            </a:r>
          </a:p>
        </p:txBody>
      </p:sp>
      <p:sp>
        <p:nvSpPr>
          <p:cNvPr id="14" name="Объект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6863939" cy="4143375"/>
          </a:xfrm>
        </p:spPr>
        <p:txBody>
          <a:bodyPr rtlCol="0">
            <a:normAutofit fontScale="92500" lnSpcReduction="10000"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dirty="0"/>
              <a:t>Программа стандартизации является важным инструментом системного управления процессом разработки и актуализации стандартов. Она обеспечивает планомерное развитие нормативной базы, учитывающее современные вызовы и потребности общества и экономики.</a:t>
            </a:r>
          </a:p>
          <a:p>
            <a:pPr marL="0" indent="0">
              <a:buNone/>
            </a:pPr>
            <a:r>
              <a:rPr lang="ru-RU" dirty="0"/>
              <a:t>Анализ основных тенденций показывает, что современная стандартизация ориентирована на гармонизацию с международными нормами, цифровизацию, опережающее развитие и учет полного жизненного цикла продукции. Эти тенденции отражают стремление обеспечить качество, безопасность и устойчивость в условиях быстрого технологического прогресса. </a:t>
            </a:r>
          </a:p>
          <a:p>
            <a:pPr marL="0" indent="0">
              <a:buNone/>
            </a:pPr>
            <a:r>
              <a:rPr lang="ru-RU" dirty="0"/>
              <a:t>Таким образом, грамотно сформированная программа стандартизации способствует повышению эффективности регулирования, развитию инноваций и интеграции в глобальное экономическое пространство.</a:t>
            </a:r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7013" y="1760758"/>
            <a:ext cx="3360586" cy="414337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7</a:t>
            </a:fld>
            <a:endParaRPr lang="ru-RU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51336236-CF01-C83A-79A8-C48DDEECEC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Список использованной литературы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714309" cy="3721817"/>
          </a:xfrm>
        </p:spPr>
        <p:txBody>
          <a:bodyPr rtlCol="0">
            <a:normAutofit fontScale="62500" lnSpcReduction="20000"/>
          </a:bodyPr>
          <a:lstStyle>
            <a:defPPr>
              <a:defRPr lang="ru-RU"/>
            </a:defPPr>
          </a:lstStyle>
          <a:p>
            <a:pPr lvl="0"/>
            <a:r>
              <a:rPr lang="ru-RU" dirty="0"/>
              <a:t>ГОСТ Р ИСО/МЭК 12207–2010. Информационная технология. Процессы жизненного цикла программных средств.</a:t>
            </a:r>
          </a:p>
          <a:p>
            <a:pPr lvl="0"/>
            <a:r>
              <a:rPr lang="ru-RU" dirty="0"/>
              <a:t>ГОСТ Р ИСО 9001–2015. Система менеджмента качества.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  <a:endParaRPr lang="ru-RU" dirty="0"/>
          </a:p>
          <a:p>
            <a:pPr lvl="0"/>
            <a:r>
              <a:rPr lang="ru-RU" dirty="0"/>
              <a:t>ГОСТ Р ИСО 9000. Системы менеджмента качества.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 и </a:t>
            </a:r>
            <a:r>
              <a:rPr lang="en-US" dirty="0" err="1"/>
              <a:t>словарь</a:t>
            </a:r>
            <a:r>
              <a:rPr lang="en-US" dirty="0"/>
              <a:t>.</a:t>
            </a:r>
            <a:endParaRPr lang="ru-RU" dirty="0"/>
          </a:p>
          <a:p>
            <a:pPr lvl="0"/>
            <a:r>
              <a:rPr lang="en-US" dirty="0"/>
              <a:t>IEEE Std 830–1998. Recommended Practice for Software Requirements Specifications.</a:t>
            </a:r>
            <a:endParaRPr lang="ru-RU" dirty="0"/>
          </a:p>
          <a:p>
            <a:pPr lvl="0"/>
            <a:r>
              <a:rPr lang="en-US" dirty="0"/>
              <a:t>ГОСТ 19.102–77. ЕСПД. </a:t>
            </a:r>
            <a:r>
              <a:rPr lang="en-US" dirty="0" err="1"/>
              <a:t>Стадии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.</a:t>
            </a:r>
            <a:endParaRPr lang="ru-RU" dirty="0"/>
          </a:p>
          <a:p>
            <a:pPr lvl="0"/>
            <a:r>
              <a:rPr lang="en-US" dirty="0"/>
              <a:t>ГОСТ 19.201–78. ЕСПД. </a:t>
            </a:r>
            <a:r>
              <a:rPr lang="en-US" dirty="0" err="1"/>
              <a:t>Техническое</a:t>
            </a:r>
            <a:r>
              <a:rPr lang="en-US" dirty="0"/>
              <a:t> </a:t>
            </a:r>
            <a:r>
              <a:rPr lang="en-US" dirty="0" err="1"/>
              <a:t>задание</a:t>
            </a:r>
            <a:r>
              <a:rPr lang="en-US" dirty="0"/>
              <a:t>.</a:t>
            </a:r>
            <a:endParaRPr lang="ru-RU" dirty="0"/>
          </a:p>
          <a:p>
            <a:pPr lvl="0"/>
            <a:r>
              <a:rPr lang="ru-RU" dirty="0"/>
              <a:t>ГОСТ 28195–89. Оценка качества программных средств.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положения</a:t>
            </a:r>
            <a:r>
              <a:rPr lang="en-US" dirty="0"/>
              <a:t>.</a:t>
            </a:r>
            <a:endParaRPr lang="ru-RU" dirty="0"/>
          </a:p>
          <a:p>
            <a:pPr lvl="0"/>
            <a:r>
              <a:rPr lang="ru-RU" dirty="0"/>
              <a:t>ГОСТ Р ИСО/МЭК ТО 9126–93. Информационная технология. Оценка программной продукции. </a:t>
            </a:r>
            <a:r>
              <a:rPr lang="en-US" dirty="0" err="1"/>
              <a:t>Характеристики</a:t>
            </a:r>
            <a:r>
              <a:rPr lang="en-US" dirty="0"/>
              <a:t> </a:t>
            </a:r>
            <a:r>
              <a:rPr lang="en-US" dirty="0" err="1"/>
              <a:t>качества</a:t>
            </a:r>
            <a:r>
              <a:rPr lang="en-US" dirty="0"/>
              <a:t> и </a:t>
            </a:r>
            <a:r>
              <a:rPr lang="en-US" dirty="0" err="1"/>
              <a:t>руководство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применению</a:t>
            </a:r>
            <a:r>
              <a:rPr lang="en-US" dirty="0"/>
              <a:t>.</a:t>
            </a:r>
            <a:endParaRPr lang="ru-RU" dirty="0"/>
          </a:p>
          <a:p>
            <a:pPr lvl="0"/>
            <a:r>
              <a:rPr lang="ru-RU" dirty="0"/>
              <a:t>ГОСТ Р ИСО/МЭК ТО 9294–93. Информационная технология. Руководство по управлению документированием программного обеспечения.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8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030CAB-A238-D2FF-1522-F5160D5C9A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562</Words>
  <Application>Microsoft Office PowerPoint</Application>
  <PresentationFormat>Широкоэкранный</PresentationFormat>
  <Paragraphs>54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Аспект</vt:lpstr>
      <vt:lpstr>Программа стандартизации, основные тенденции</vt:lpstr>
      <vt:lpstr>Введение</vt:lpstr>
      <vt:lpstr>Понятие и назначение программы стандартизации</vt:lpstr>
      <vt:lpstr>Структура и содержание программы стандартизации</vt:lpstr>
      <vt:lpstr>Основные тенденции современной стандартизации</vt:lpstr>
      <vt:lpstr>Роль программы стандартизации в управлении развитием отраслей</vt:lpstr>
      <vt:lpstr>Заключение</vt:lpstr>
      <vt:lpstr>Список использованной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Александр Адамович</dc:creator>
  <cp:lastModifiedBy>Александр Адамович</cp:lastModifiedBy>
  <cp:revision>1</cp:revision>
  <dcterms:created xsi:type="dcterms:W3CDTF">2025-12-19T14:43:07Z</dcterms:created>
  <dcterms:modified xsi:type="dcterms:W3CDTF">2025-12-19T15:04:15Z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