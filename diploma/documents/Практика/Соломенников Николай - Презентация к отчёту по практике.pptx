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183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3D2D0-308B-4B12-8088-85C28DE231CD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DA4EBD-50A0-44DD-971F-1DCA6AD1DC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903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E2BF3-C2B5-9FF8-FD11-71D1C82B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89CBDAD-3209-A44A-FA5E-693CC1724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417BDA-5D94-C9CD-F461-40F5035A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C4948-5249-41CF-936C-AEB46DC8EEB6}" type="datetime1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2D2831-8B76-ED19-CCEB-43F6DB75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57C180-FA6B-49AC-0C7C-2AF9AF21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31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506EA-34E7-7D87-B0A9-27ACF4F6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BC1454-65A0-5363-0AB7-02E7FBAC1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9B5F7D-759F-FDBC-BA52-96107387E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FAA62-900E-4FAE-B55B-EEECD7DBD9B8}" type="datetime1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AA3374-8561-06DF-B05A-EE71237E6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DC4D8-BD9C-2F40-F1FD-D1FACCEEB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09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0BAD27-E783-84B5-6B64-DF61CFE7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7BA97E-B8F7-0FB1-6011-BAB41931B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C6AF02-9D30-BDED-DB54-3B919565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38C42-D41A-4AE5-8CD2-B14AD7429462}" type="datetime1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C1113D-CCFD-DB09-EC41-54F91AAA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7D3D68-3727-7A8D-B445-C121C1A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299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48BF1-1971-A945-3C90-ECF1341A0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AFE6B7-7320-3CD3-2A2D-FB7D9AFBE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6F5FDC-1775-0CF6-5591-8F13610CE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F8BC94-73DF-90FE-4E85-2BA8BFD1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E6E-266B-4398-BA12-EA64C9916673}" type="datetime1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03AFC4-52CA-BB21-59D0-81060532B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9FD419-BB78-DACD-8128-5DBDD9D2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176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32C438-E8FC-582E-94AF-F7A7E781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E3C040-86AB-54C1-5A2F-99E23C4F6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C8AEBD-EF92-E615-DFCD-36586ABF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46F514-B33C-CCEA-8E19-F9DFCDE66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E077EB-E4E7-299D-4033-1E442D3B3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595A055-30F6-DE7C-336D-4B4FEA30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17DBE-347B-4237-A52F-935154000E22}" type="datetime1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999343-0672-E902-FE0B-1D3AF27BE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BB569E8-642E-EF7B-8C0A-639B20AE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27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0A375-C92C-ACC9-F898-0A30D55C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5BBE9E-33AA-DB97-6451-FEA5BA9C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AB00-60DB-4FE2-9F94-CF426E8956FA}" type="datetime1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A4A00CF-187A-6463-6B8D-059C392F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0C019E-45C1-F8A0-B1A1-3EAAC611A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77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FC3BCB-639E-CF43-7129-F25B273C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56365-C342-4519-9DCA-87AF755436B1}" type="datetime1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92A8B4-3A2E-E934-7BA5-DF58088C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291EF0-6B85-4566-C127-30705DFA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5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6E1DE-C846-01F2-EB56-8FF5C75B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A146D5-ADCA-D50E-5208-711494C4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DFC165-662F-E3B8-F079-C1055FA98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535F4E-EF47-93B4-2C6E-A8FCBD49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122E2-EF48-4A66-8461-3D5F56A2EE5F}" type="datetime1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A1C510-2ED5-69D4-4BE4-2525AD56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07BECE-C9E7-0E5D-5C38-ABE420E6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55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A5963-541E-041B-EF7A-1E7AC93C2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55D2B65-9112-477F-B468-E9793D272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4E219D-CEED-E801-8FE6-2B89682DC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6E5E08-2910-EC42-B76A-4EE30640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A3D7-4626-4317-AA2C-C489A75F27D0}" type="datetime1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05A29B-7E2F-81ED-3D8F-44A7314D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DBEE07-B4FD-5F08-1C9C-9810C882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77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5E5DE5-D661-2DAF-65BA-E105F836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0928EA-1D4C-3288-E5DB-E6FD9396E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D94548-7552-26B7-DD38-77845E7D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501B-190D-46B0-97F8-3802168ACEE7}" type="datetime1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9F332-6761-A7FA-195E-90EBB23B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9385BF-6360-52B3-2127-E51743A93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85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F95DCA-786D-1FF0-A534-8BE9422241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DBD1C1C-2017-B361-CE06-B653E80DC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E5243D-A65C-8BA4-C052-6267581DA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EE571-F868-40D0-B9EE-3DFEC42B0325}" type="datetime1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55D1FA-6359-5EC3-FA94-559DA365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6C91E1-945C-1560-BD46-F1E1A16E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6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67A0F-147F-AA41-B3FD-C5CCBC2C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479127-AB7D-3C98-FFB1-D5CDF53F9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D77E8E-D3B4-7043-8FE0-B81059B04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30C73-BDD4-41AE-A536-31B568C6C9C1}" type="datetime1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57BD5B-7AD0-5C11-E0DF-034794268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317CE7-20E2-5E9E-4134-A3D487A05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CE343A-F113-456D-A53E-2FF00D3B3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7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5FBF5-AD11-6C84-95F0-A2095613E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1376363"/>
            <a:ext cx="10401300" cy="2387600"/>
          </a:xfrm>
        </p:spPr>
        <p:txBody>
          <a:bodyPr>
            <a:normAutofit/>
          </a:bodyPr>
          <a:lstStyle/>
          <a:p>
            <a:pPr algn="l"/>
            <a:r>
              <a:rPr lang="ru-RU" sz="4000" dirty="0">
                <a:effectLst/>
              </a:rPr>
              <a:t>Разработка архитектуры системы автоматизированного пополнения онтологической модели кафедры знаниями, извлечёнными из документов 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2B9452-6309-48C3-6E54-408E76AB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600" y="4079875"/>
            <a:ext cx="9144000" cy="1655762"/>
          </a:xfrm>
        </p:spPr>
        <p:txBody>
          <a:bodyPr/>
          <a:lstStyle/>
          <a:p>
            <a:pPr algn="l"/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Руководитель: Пальчунов Дмитрий Евгеньевич</a:t>
            </a:r>
          </a:p>
          <a:p>
            <a:pPr algn="l"/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Студент: Соломенников Николай Александрович </a:t>
            </a:r>
          </a:p>
          <a:p>
            <a:pPr algn="l"/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курс 4 группа 22204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3E27D5C-8490-D9DA-E387-A09F7840C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4818232"/>
            <a:ext cx="2095500" cy="20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94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1F7355-A365-AF4D-7C5B-337F563A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Цель и актуальность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6469C-B21C-95F7-4549-9D1A8B28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83025"/>
            <a:ext cx="5270500" cy="1971675"/>
          </a:xfrm>
        </p:spPr>
        <p:txBody>
          <a:bodyPr/>
          <a:lstStyle/>
          <a:p>
            <a:pPr marL="0" indent="0" algn="ctr">
              <a:buNone/>
            </a:pPr>
            <a:r>
              <a:rPr lang="ru-RU" b="1" u="none" strike="noStrike" dirty="0">
                <a:solidFill>
                  <a:srgbClr val="000000"/>
                </a:solidFill>
                <a:effectLst/>
                <a:latin typeface="Outfit"/>
              </a:rPr>
              <a:t>Актуальность</a:t>
            </a:r>
          </a:p>
          <a:p>
            <a:pPr marL="0" indent="0" algn="ctr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Необходимость автоматизации пополнения онтологической модели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D00F12-4E30-70AF-D7FA-1AD99A43D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441" y="2020768"/>
            <a:ext cx="1743318" cy="1705213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04331E9A-0954-636A-8D1C-0EB6B7D88BDE}"/>
              </a:ext>
            </a:extLst>
          </p:cNvPr>
          <p:cNvSpPr txBox="1">
            <a:spLocks/>
          </p:cNvSpPr>
          <p:nvPr/>
        </p:nvSpPr>
        <p:spPr>
          <a:xfrm>
            <a:off x="6038850" y="3883025"/>
            <a:ext cx="5270500" cy="1971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b="1" u="none" strike="noStrike" dirty="0">
                <a:solidFill>
                  <a:srgbClr val="000000"/>
                </a:solidFill>
                <a:effectLst/>
                <a:latin typeface="Outfit"/>
              </a:rPr>
              <a:t>Цель практики</a:t>
            </a:r>
          </a:p>
          <a:p>
            <a:pPr marL="0" indent="0" algn="ctr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Разработка архитектуры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E423233-8F7D-7038-F49C-62028A6A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2914" y="2049347"/>
            <a:ext cx="1762371" cy="1676634"/>
          </a:xfrm>
          <a:prstGeom prst="rect">
            <a:avLst/>
          </a:prstGeom>
        </p:spPr>
      </p:pic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111D619F-F75B-5290-059F-533BE87A2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2126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C341B1-6A4F-529E-85F0-D38A3543A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Анализ предметной области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E11C6-41D0-4A80-4EE1-2BA3A1D6E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3594100" cy="4351338"/>
          </a:xfrm>
        </p:spPr>
        <p:txBody>
          <a:bodyPr/>
          <a:lstStyle/>
          <a:p>
            <a:pPr marL="0" indent="0" algn="l">
              <a:buNone/>
            </a:pPr>
            <a:r>
              <a:rPr lang="ru-RU" b="1" u="none" strike="noStrike" dirty="0">
                <a:solidFill>
                  <a:srgbClr val="000000"/>
                </a:solidFill>
                <a:effectLst/>
                <a:latin typeface="Outfit"/>
              </a:rPr>
              <a:t>Анализ онтологических моделей</a:t>
            </a:r>
          </a:p>
          <a:p>
            <a:pPr marL="0" indent="0" algn="l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Извлечению подлежат только индивидуумы, литералы и </a:t>
            </a:r>
            <a:r>
              <a:rPr lang="ru-RU" b="0" u="none" strike="noStrike" dirty="0" err="1">
                <a:solidFill>
                  <a:srgbClr val="000000"/>
                </a:solidFill>
                <a:effectLst/>
                <a:latin typeface="Outfit"/>
              </a:rPr>
              <a:t>ABox</a:t>
            </a:r>
            <a:r>
              <a:rPr lang="ru-RU" b="0" u="none" strike="noStrike" dirty="0">
                <a:solidFill>
                  <a:srgbClr val="000000"/>
                </a:solidFill>
                <a:effectLst/>
                <a:latin typeface="Outfit"/>
              </a:rPr>
              <a:t>-аксиомы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D91815A-AA3B-C9C0-09C4-174154D7B74B}"/>
              </a:ext>
            </a:extLst>
          </p:cNvPr>
          <p:cNvSpPr txBox="1">
            <a:spLocks/>
          </p:cNvSpPr>
          <p:nvPr/>
        </p:nvSpPr>
        <p:spPr>
          <a:xfrm>
            <a:off x="4298950" y="2141537"/>
            <a:ext cx="3594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b="1" u="none" strike="noStrike" dirty="0">
                <a:solidFill>
                  <a:srgbClr val="000000"/>
                </a:solidFill>
                <a:effectLst/>
                <a:latin typeface="Outfit"/>
              </a:rPr>
              <a:t>Анализ документов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effectLst/>
              </a:rPr>
              <a:t>Необходимость унифицированного представления документов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1E3A5EA-AD51-672F-F2B3-8FA399611344}"/>
              </a:ext>
            </a:extLst>
          </p:cNvPr>
          <p:cNvSpPr txBox="1">
            <a:spLocks/>
          </p:cNvSpPr>
          <p:nvPr/>
        </p:nvSpPr>
        <p:spPr>
          <a:xfrm>
            <a:off x="8026400" y="2141537"/>
            <a:ext cx="35941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>
                <a:solidFill>
                  <a:srgbClr val="000000"/>
                </a:solidFill>
                <a:latin typeface="Outfit"/>
              </a:rPr>
              <a:t>Изучение существующих подходов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>
                <a:effectLst/>
              </a:rPr>
              <a:t>Представление о методах извлечения знаний и пополнения моделей</a:t>
            </a:r>
            <a:endParaRPr lang="ru-RU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557C662B-A841-DB05-024A-DAB78A4BE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78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69F0D-E168-64EE-4715-A72C6240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Ключевая архитектурная идея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A7FD4A-575E-058F-7E0D-7ADFB1335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0" u="none" strike="noStrike" dirty="0">
                <a:solidFill>
                  <a:srgbClr val="000000"/>
                </a:solidFill>
                <a:effectLst/>
                <a:latin typeface="Roboto" panose="020F0502020204030204" pitchFamily="2" charset="0"/>
              </a:rPr>
              <a:t>Разделении процессов извлечения данных и извлечения знаний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1A78CD-6348-810A-45F9-BEFC9DBB6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3810000"/>
            <a:ext cx="10448478" cy="1577023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1F0481-5DA5-49DD-4EDA-D7B52B0F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8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190666-BC7C-8BAE-147C-2F3E1AFC1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Архитектурные решения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1AB082-DDEA-5A99-E206-DEC17D646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692523"/>
            <a:ext cx="3479800" cy="1527175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effectLst/>
              </a:rPr>
              <a:t>Приведение к унифицированному представлению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8ED20C5-2995-EF4E-35E3-E2891901A679}"/>
              </a:ext>
            </a:extLst>
          </p:cNvPr>
          <p:cNvSpPr txBox="1">
            <a:spLocks/>
          </p:cNvSpPr>
          <p:nvPr/>
        </p:nvSpPr>
        <p:spPr>
          <a:xfrm>
            <a:off x="4356100" y="3692525"/>
            <a:ext cx="3479800" cy="152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effectLst/>
              </a:rPr>
              <a:t>Шаблонно-ориентированное извлечение знаний </a:t>
            </a: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8BDCA0A-50F5-D2E9-AB7B-85EC6651F47F}"/>
              </a:ext>
            </a:extLst>
          </p:cNvPr>
          <p:cNvSpPr txBox="1">
            <a:spLocks/>
          </p:cNvSpPr>
          <p:nvPr/>
        </p:nvSpPr>
        <p:spPr>
          <a:xfrm>
            <a:off x="8026400" y="3692523"/>
            <a:ext cx="3479800" cy="1527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>
                <a:effectLst/>
              </a:rPr>
              <a:t>Модульность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6BB9DF-FFC9-5BED-ACB3-FC52B4539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8519"/>
            <a:ext cx="10515600" cy="1415111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AF252B4-0CD4-4D38-B454-DB536A1B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76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0858D-5C42-3DFC-2C97-E691B1D3A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Унифицированный формат представления документов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F3E1F-EA99-B8CB-45C2-EF0D72B1B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0" y="2079626"/>
            <a:ext cx="6235700" cy="264209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Назначение</a:t>
            </a:r>
          </a:p>
          <a:p>
            <a:pPr marL="0" indent="0">
              <a:buNone/>
            </a:pPr>
            <a:r>
              <a:rPr lang="ru-RU" dirty="0">
                <a:effectLst/>
              </a:rPr>
              <a:t>Зафиксировать текст и структуру документа, достаточную для дальнейшей интерпретации данных с использованием шаблонов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CA622F-F607-B119-52D3-A41F355D4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4100"/>
            <a:ext cx="4483890" cy="274066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2DE7FC-0FF9-06AE-98B1-BD4E2336C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3702" y="1905037"/>
            <a:ext cx="847843" cy="752580"/>
          </a:xfrm>
          <a:prstGeom prst="rect">
            <a:avLst/>
          </a:prstGeom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B54D0E63-913B-300F-F642-14B921BEC31D}"/>
              </a:ext>
            </a:extLst>
          </p:cNvPr>
          <p:cNvSpPr txBox="1">
            <a:spLocks/>
          </p:cNvSpPr>
          <p:nvPr/>
        </p:nvSpPr>
        <p:spPr>
          <a:xfrm>
            <a:off x="5461000" y="4377126"/>
            <a:ext cx="6235700" cy="2115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Принципы</a:t>
            </a:r>
          </a:p>
          <a:p>
            <a:pPr marL="0" indent="0" algn="l">
              <a:buNone/>
            </a:pPr>
            <a:r>
              <a:rPr lang="ru-RU" sz="2800" dirty="0"/>
              <a:t>1. Минимальность</a:t>
            </a:r>
          </a:p>
          <a:p>
            <a:pPr marL="0" indent="0" algn="l">
              <a:buNone/>
            </a:pPr>
            <a:r>
              <a:rPr lang="ru-RU" sz="2800" dirty="0"/>
              <a:t>2. Форматная независимость</a:t>
            </a:r>
          </a:p>
          <a:p>
            <a:pPr marL="0" indent="0" algn="l">
              <a:buNone/>
            </a:pPr>
            <a:r>
              <a:rPr lang="ru-RU" sz="2800" dirty="0"/>
              <a:t>3. Иерархичность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9D63CA05-843B-A146-E723-5AF0BD39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68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A9996-9BF8-68D4-DB4D-39C895FB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Модульность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370950D-0EBF-19F3-09CB-033CD5C16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3038"/>
            <a:ext cx="10515600" cy="227682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74FA7F-01DB-05EA-BF2A-337F52551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399" y="3809867"/>
            <a:ext cx="10109201" cy="2394082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5F96AC-7270-3050-9EA6-999B1329E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99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658AC-003E-BF20-808A-86F0A5253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Шаблоны извлечения знаний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967E82-2AA8-8F06-2BA5-9EBB2141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66775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effectLst/>
              </a:rPr>
              <a:t>Шаблон - программный модуль, содержащий правила распознавания документа и извлечения знаний 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AD999BD-0623-679E-01E8-E8540FE4E3A4}"/>
              </a:ext>
            </a:extLst>
          </p:cNvPr>
          <p:cNvSpPr txBox="1">
            <a:spLocks/>
          </p:cNvSpPr>
          <p:nvPr/>
        </p:nvSpPr>
        <p:spPr>
          <a:xfrm>
            <a:off x="838200" y="2992437"/>
            <a:ext cx="10515600" cy="3217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/>
              <a:t>Достоинства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Гибкость реализации правил извлечения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Возможность предварительной обработки данных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Учёт структуры документа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Масштабируемость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E20E16-029A-165C-6236-4637A982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00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FB453-2ABD-F0A3-E41F-2ACB1CD97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Реализация системы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DE07E0-BBBB-A6E2-0ABD-932EFF29E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025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Реализовано</a:t>
            </a:r>
            <a:r>
              <a:rPr lang="en-US" dirty="0"/>
              <a:t>:</a:t>
            </a:r>
          </a:p>
          <a:p>
            <a:r>
              <a:rPr lang="ru-RU" dirty="0"/>
              <a:t>Базовая программная инфраструктура</a:t>
            </a:r>
          </a:p>
          <a:p>
            <a:r>
              <a:rPr lang="ru-RU" dirty="0"/>
              <a:t>Внутренний конвертер документов </a:t>
            </a:r>
            <a:r>
              <a:rPr lang="en-US" dirty="0"/>
              <a:t>docx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F32265-15FD-5381-3B7E-FD3DB7DE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399" y="0"/>
            <a:ext cx="3624601" cy="68580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B19BC5-76FA-79A4-F712-FA755758F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17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1283A-1AF2-6FED-A7D3-1ED0E09C8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Заключение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E26F3CD-E8F7-3169-702C-F316E8E97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514" y="1690688"/>
            <a:ext cx="9856972" cy="4598873"/>
          </a:xfr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444173-7B04-4C74-CA38-C6E71D4BB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343A-F113-456D-A53E-2FF00D3B3D77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5353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171</Words>
  <Application>Microsoft Office PowerPoint</Application>
  <PresentationFormat>Широкоэкранный</PresentationFormat>
  <Paragraphs>51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Outfit</vt:lpstr>
      <vt:lpstr>Roboto</vt:lpstr>
      <vt:lpstr>Тема Office</vt:lpstr>
      <vt:lpstr>Разработка архитектуры системы автоматизированного пополнения онтологической модели кафедры знаниями, извлечёнными из документов </vt:lpstr>
      <vt:lpstr>Цель и актуальность</vt:lpstr>
      <vt:lpstr>Анализ предметной области</vt:lpstr>
      <vt:lpstr>Ключевая архитектурная идея </vt:lpstr>
      <vt:lpstr>Архитектурные решения</vt:lpstr>
      <vt:lpstr>Унифицированный формат представления документов </vt:lpstr>
      <vt:lpstr>Модульность</vt:lpstr>
      <vt:lpstr>Шаблоны извлечения знаний</vt:lpstr>
      <vt:lpstr>Реализация системы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Николай Соломенников</dc:creator>
  <cp:lastModifiedBy>Николай Соломенников</cp:lastModifiedBy>
  <cp:revision>2</cp:revision>
  <dcterms:created xsi:type="dcterms:W3CDTF">2026-01-29T04:57:20Z</dcterms:created>
  <dcterms:modified xsi:type="dcterms:W3CDTF">2026-01-29T05:29:11Z</dcterms:modified>
</cp:coreProperties>
</file>