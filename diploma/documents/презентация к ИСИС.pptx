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6" r:id="rId4"/>
    <p:sldId id="258" r:id="rId5"/>
    <p:sldId id="267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9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52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8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BC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 txBox="1"/>
          <p:nvPr/>
        </p:nvSpPr>
        <p:spPr>
          <a:xfrm>
            <a:off x="858541" y="1165750"/>
            <a:ext cx="8463601" cy="174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250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системы автоматизированного пополнения онтологической модели кафедры знаниями, извлечёнными из документов</a:t>
            </a:r>
            <a:endParaRPr lang="en-US" sz="2509" dirty="0"/>
          </a:p>
        </p:txBody>
      </p:sp>
      <p:sp>
        <p:nvSpPr>
          <p:cNvPr id="5" name="Text 1"/>
          <p:cNvSpPr txBox="1"/>
          <p:nvPr/>
        </p:nvSpPr>
        <p:spPr>
          <a:xfrm>
            <a:off x="858541" y="2910850"/>
            <a:ext cx="3713459" cy="11355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600" dirty="0"/>
              <a:t>Автор</a:t>
            </a:r>
            <a:r>
              <a:rPr lang="en-US" sz="1600" dirty="0"/>
              <a:t>: </a:t>
            </a:r>
            <a:r>
              <a:rPr lang="ru-RU" sz="1600" dirty="0"/>
              <a:t>Соломенников Николай</a:t>
            </a:r>
            <a:br>
              <a:rPr lang="ru-RU" sz="1600" dirty="0"/>
            </a:br>
            <a:r>
              <a:rPr lang="ru-RU" sz="1600" dirty="0"/>
              <a:t>Руководитель</a:t>
            </a:r>
            <a:r>
              <a:rPr lang="en-US" sz="1600" dirty="0"/>
              <a:t>: </a:t>
            </a:r>
            <a:r>
              <a:rPr lang="ru-RU" sz="1600" dirty="0"/>
              <a:t>д.ф.-м.н., доцент,</a:t>
            </a:r>
            <a:r>
              <a:rPr lang="en-US" sz="1600" dirty="0"/>
              <a:t> </a:t>
            </a:r>
            <a:r>
              <a:rPr lang="ru-RU" sz="1600" dirty="0"/>
              <a:t>зав. каф. общей информатики ФИТ НГУ,</a:t>
            </a:r>
            <a:r>
              <a:rPr lang="en-US" sz="1600" dirty="0"/>
              <a:t>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1600" dirty="0" err="1"/>
              <a:t>в.н.с</a:t>
            </a:r>
            <a:r>
              <a:rPr lang="ru-RU" sz="1600" dirty="0"/>
              <a:t>. ИМ СО РАН</a:t>
            </a:r>
            <a:r>
              <a:rPr lang="en-US" sz="1600" dirty="0"/>
              <a:t> </a:t>
            </a:r>
            <a:r>
              <a:rPr lang="ru-RU" sz="1600" dirty="0" err="1"/>
              <a:t>Пальчунов</a:t>
            </a:r>
            <a:r>
              <a:rPr lang="ru-RU" sz="1600" dirty="0"/>
              <a:t> Д. Е.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FE823F-A4F3-F1BB-4638-82CBDAB54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703218"/>
            <a:ext cx="2921587" cy="20099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 txBox="1"/>
          <p:nvPr/>
        </p:nvSpPr>
        <p:spPr>
          <a:xfrm>
            <a:off x="644432" y="1304130"/>
            <a:ext cx="4773388" cy="192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Большой объём документов для учёта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Человеческий фактор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Необходимость знаний для цифровых двойников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Изменчивость данных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Text 1"/>
          <p:cNvSpPr txBox="1"/>
          <p:nvPr/>
        </p:nvSpPr>
        <p:spPr>
          <a:xfrm>
            <a:off x="644432" y="643131"/>
            <a:ext cx="4366200" cy="51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Актуальность</a:t>
            </a:r>
            <a:endParaRPr lang="en-US" sz="24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AE5A360-D287-DD0A-ECDA-E697A4CBE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80" y="266769"/>
            <a:ext cx="1266970" cy="1086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 txBox="1"/>
          <p:nvPr/>
        </p:nvSpPr>
        <p:spPr>
          <a:xfrm>
            <a:off x="644432" y="1340275"/>
            <a:ext cx="3432268" cy="107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Анализ существующих решений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Создание архитектуры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Реализация системы</a:t>
            </a:r>
          </a:p>
        </p:txBody>
      </p:sp>
      <p:sp>
        <p:nvSpPr>
          <p:cNvPr id="7" name="Text 1"/>
          <p:cNvSpPr txBox="1"/>
          <p:nvPr/>
        </p:nvSpPr>
        <p:spPr>
          <a:xfrm>
            <a:off x="644432" y="643131"/>
            <a:ext cx="4366200" cy="51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Цель и задачи</a:t>
            </a:r>
            <a:endParaRPr lang="en-US" sz="24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9B6F80-2C1B-0FC0-6F5F-6A2604FD1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80" y="3540782"/>
            <a:ext cx="1569720" cy="160271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B3B433C-4D4B-72F2-B56B-CA37660FF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439" y="2383117"/>
            <a:ext cx="6138787" cy="253029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5C37819-8C47-15EC-1CA2-C3057869565B}"/>
              </a:ext>
            </a:extLst>
          </p:cNvPr>
          <p:cNvSpPr txBox="1"/>
          <p:nvPr/>
        </p:nvSpPr>
        <p:spPr>
          <a:xfrm>
            <a:off x="4572000" y="1381393"/>
            <a:ext cx="3432268" cy="192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Интеграция с моделью кафедры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Оценка эффективности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0000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/>
          <p:cNvSpPr txBox="1"/>
          <p:nvPr/>
        </p:nvSpPr>
        <p:spPr>
          <a:xfrm>
            <a:off x="868104" y="1334400"/>
            <a:ext cx="5974656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Поддержка основных форматов документов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Извлечение индивидов, данных и </a:t>
            </a:r>
            <a:r>
              <a:rPr lang="en-US" sz="1600" dirty="0" err="1"/>
              <a:t>ABox</a:t>
            </a:r>
            <a:r>
              <a:rPr lang="ru-RU" sz="1600" dirty="0"/>
              <a:t> аксиом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Корректировка ошибок заполнения документов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Пополнение</a:t>
            </a:r>
            <a:r>
              <a:rPr lang="en-US" sz="1600" dirty="0"/>
              <a:t>/</a:t>
            </a:r>
            <a:r>
              <a:rPr lang="ru-RU" sz="1600" dirty="0"/>
              <a:t>актуализация онтологической модели</a:t>
            </a:r>
          </a:p>
        </p:txBody>
      </p:sp>
      <p:sp>
        <p:nvSpPr>
          <p:cNvPr id="8" name="Text 3"/>
          <p:cNvSpPr txBox="1"/>
          <p:nvPr/>
        </p:nvSpPr>
        <p:spPr>
          <a:xfrm>
            <a:off x="868104" y="603036"/>
            <a:ext cx="82119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2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7EA692-1CDA-8F2E-0DB5-E0AEF80C7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498" y="3557282"/>
            <a:ext cx="1569720" cy="160271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588520-66FA-A373-791D-F2832E7BE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816307" y="40233"/>
            <a:ext cx="1367926" cy="1287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 txBox="1"/>
          <p:nvPr/>
        </p:nvSpPr>
        <p:spPr>
          <a:xfrm>
            <a:off x="644432" y="1855078"/>
            <a:ext cx="3775168" cy="293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just">
              <a:spcAft>
                <a:spcPts val="6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Модули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 algn="just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Классификатор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 algn="just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Движок шаблонного извлечения</a:t>
            </a:r>
          </a:p>
          <a:p>
            <a:pPr marL="342900" indent="-342900" algn="just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Генератор шаблонов</a:t>
            </a:r>
          </a:p>
          <a:p>
            <a:pPr marL="342900" lvl="0" indent="-342900" algn="just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Валидатор</a:t>
            </a:r>
          </a:p>
          <a:p>
            <a:pPr marL="342900" lvl="0" indent="-342900" algn="just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Правщик</a:t>
            </a:r>
          </a:p>
        </p:txBody>
      </p:sp>
      <p:sp>
        <p:nvSpPr>
          <p:cNvPr id="7" name="Text 1"/>
          <p:cNvSpPr txBox="1"/>
          <p:nvPr/>
        </p:nvSpPr>
        <p:spPr>
          <a:xfrm>
            <a:off x="644432" y="643131"/>
            <a:ext cx="4366200" cy="51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Решение</a:t>
            </a:r>
            <a:endParaRPr lang="en-US" sz="24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AE5A360-D287-DD0A-ECDA-E697A4CBE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80" y="356040"/>
            <a:ext cx="1266970" cy="108680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A98A6CF-1AB0-EDEF-72BB-732A02BF3D78}"/>
              </a:ext>
            </a:extLst>
          </p:cNvPr>
          <p:cNvSpPr txBox="1"/>
          <p:nvPr/>
        </p:nvSpPr>
        <p:spPr>
          <a:xfrm>
            <a:off x="4572000" y="2197978"/>
            <a:ext cx="4221480" cy="1729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algn="just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Коннектор</a:t>
            </a:r>
          </a:p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Тестировщик непротиворечивости</a:t>
            </a:r>
          </a:p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Аудит</a:t>
            </a:r>
            <a:endParaRPr lang="en-US" sz="1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4F22217-CF3F-2E9D-07C1-AB51798D459F}"/>
              </a:ext>
            </a:extLst>
          </p:cNvPr>
          <p:cNvSpPr txBox="1"/>
          <p:nvPr/>
        </p:nvSpPr>
        <p:spPr>
          <a:xfrm>
            <a:off x="642798" y="1304353"/>
            <a:ext cx="4773388" cy="512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just">
              <a:spcAft>
                <a:spcPts val="600"/>
              </a:spcAft>
            </a:pPr>
            <a:r>
              <a:rPr lang="ru-RU" sz="1600" dirty="0"/>
              <a:t>Основная идея</a:t>
            </a:r>
            <a:r>
              <a:rPr lang="en-US" sz="1600" dirty="0"/>
              <a:t>: </a:t>
            </a:r>
            <a:r>
              <a:rPr lang="ru-RU" sz="1600" dirty="0"/>
              <a:t>Шаблонное извлечение знаний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5600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BC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80420" y="509220"/>
            <a:ext cx="7374600" cy="59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Литература</a:t>
            </a:r>
            <a:endParaRPr lang="en-US" sz="24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487F373-4378-CA5A-4FAF-7F0821CBD3D2}"/>
              </a:ext>
            </a:extLst>
          </p:cNvPr>
          <p:cNvSpPr txBox="1"/>
          <p:nvPr/>
        </p:nvSpPr>
        <p:spPr>
          <a:xfrm>
            <a:off x="580420" y="1142340"/>
            <a:ext cx="7374600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l">
              <a:lnSpc>
                <a:spcPct val="90000"/>
              </a:lnSpc>
              <a:buFont typeface="+mj-lt"/>
              <a:buAutoNum type="arabicPeriod"/>
            </a:pPr>
            <a:r>
              <a:rPr lang="en-US" sz="1200" dirty="0" err="1"/>
              <a:t>Wieppir</a:t>
            </a:r>
            <a:r>
              <a:rPr lang="en-US" sz="1200" dirty="0"/>
              <a:t>. </a:t>
            </a:r>
            <a:r>
              <a:rPr lang="ru-RU" sz="1200" dirty="0"/>
              <a:t>Структурированные данные в 2025: от </a:t>
            </a:r>
            <a:r>
              <a:rPr lang="en-US" sz="1200" dirty="0"/>
              <a:t>rich snippets </a:t>
            </a:r>
            <a:r>
              <a:rPr lang="ru-RU" sz="1200" dirty="0"/>
              <a:t>до ответов </a:t>
            </a:r>
            <a:r>
              <a:rPr lang="en-US" sz="1200" dirty="0"/>
              <a:t>LLM — </a:t>
            </a:r>
            <a:r>
              <a:rPr lang="ru-RU" sz="1200" dirty="0"/>
              <a:t>что реально работает [Электронный ресурс] // _</a:t>
            </a:r>
            <a:r>
              <a:rPr lang="ru-RU" sz="1200" dirty="0" err="1"/>
              <a:t>Хабр</a:t>
            </a:r>
            <a:r>
              <a:rPr lang="ru-RU" sz="1200" dirty="0"/>
              <a:t>_. — 2025. — </a:t>
            </a:r>
            <a:r>
              <a:rPr lang="en-US" sz="1200" dirty="0"/>
              <a:t>URL: [https://habr.com/ru/articles/953084] (</a:t>
            </a:r>
            <a:r>
              <a:rPr lang="ru-RU" sz="1200" dirty="0"/>
              <a:t>дата обращения: 12.11.2025). </a:t>
            </a:r>
            <a:endParaRPr lang="en-US" sz="1200" dirty="0"/>
          </a:p>
          <a:p>
            <a:pPr marL="228600" indent="-228600" algn="l">
              <a:lnSpc>
                <a:spcPct val="90000"/>
              </a:lnSpc>
              <a:buFont typeface="+mj-lt"/>
              <a:buAutoNum type="arabicPeriod"/>
            </a:pPr>
            <a:r>
              <a:rPr lang="ru-RU" sz="1200" dirty="0"/>
              <a:t>Семантический веб</a:t>
            </a:r>
            <a:r>
              <a:rPr lang="en-US" sz="1200" dirty="0"/>
              <a:t> </a:t>
            </a:r>
            <a:r>
              <a:rPr lang="ru-RU" sz="1200" dirty="0"/>
              <a:t>[Электронный ресурс] / Под ред. С. В. Смирнова. — М.: ИНФРА-М, 2016. — 320 с. — </a:t>
            </a:r>
            <a:r>
              <a:rPr lang="en-US" sz="1200" dirty="0"/>
              <a:t>URL: [https://znanium.ru/catalog/document?id=435491] (</a:t>
            </a:r>
            <a:r>
              <a:rPr lang="ru-RU" sz="1200" dirty="0"/>
              <a:t>дата обращения: 12.11.2025).</a:t>
            </a:r>
            <a:endParaRPr lang="en-US" sz="1200" dirty="0"/>
          </a:p>
          <a:p>
            <a:pPr marL="228600" indent="-228600" algn="l">
              <a:lnSpc>
                <a:spcPct val="90000"/>
              </a:lnSpc>
              <a:buFont typeface="+mj-lt"/>
              <a:buAutoNum type="arabicPeriod"/>
            </a:pPr>
            <a:r>
              <a:rPr lang="en-US" sz="1200" dirty="0" err="1"/>
              <a:t>Thiyagarajan</a:t>
            </a:r>
            <a:r>
              <a:rPr lang="en-US" sz="1200" dirty="0"/>
              <a:t>, S., Radhika, R. A Rule-Based Information Extraction Approach for Extracting Metadata from PDF Books [</a:t>
            </a:r>
            <a:r>
              <a:rPr lang="ru-RU" sz="1200" dirty="0"/>
              <a:t>Электронный ресурс] // _</a:t>
            </a:r>
            <a:r>
              <a:rPr lang="en-US" sz="1200" dirty="0"/>
              <a:t>ResearchGate_, 2020. — URL: [https://www.researchgate.net/publication/347948003_A_Rule-Based_Information_Extraction_Approach_For_Extracting_Metadata_From_PDF_Books] (</a:t>
            </a:r>
            <a:r>
              <a:rPr lang="ru-RU" sz="1200" dirty="0"/>
              <a:t>дата обращения: 12.11.2025).</a:t>
            </a:r>
            <a:endParaRPr lang="en-US" sz="1200" dirty="0"/>
          </a:p>
          <a:p>
            <a:pPr marL="228600" indent="-228600" algn="l">
              <a:lnSpc>
                <a:spcPct val="90000"/>
              </a:lnSpc>
              <a:buFont typeface="+mj-lt"/>
              <a:buAutoNum type="arabicPeriod"/>
            </a:pPr>
            <a:r>
              <a:rPr lang="en-US" sz="1200" dirty="0" err="1"/>
              <a:t>Suganthi</a:t>
            </a:r>
            <a:r>
              <a:rPr lang="en-US" sz="1200" dirty="0"/>
              <a:t>, S., Radhika, R. Rule-Based Chunk Extraction from PDF Documents Using Regular Expressions and Natural Language Processing [</a:t>
            </a:r>
            <a:r>
              <a:rPr lang="ru-RU" sz="1200" dirty="0"/>
              <a:t>Электронный ресурс] // _</a:t>
            </a:r>
            <a:r>
              <a:rPr lang="en-US" sz="1200" dirty="0"/>
              <a:t>ResearchGate_, 2015. — URL: [https://www.researchgate.net/publication/281858490_Rule_Based_Chunk_Extraction_from_PDF_Documents_Using_Regular_Expressions_and_Natural_Language_Processing] (</a:t>
            </a:r>
            <a:r>
              <a:rPr lang="ru-RU" sz="1200" dirty="0"/>
              <a:t>дата обращения: 12.11.2025).</a:t>
            </a:r>
            <a:endParaRPr lang="en-US" sz="12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AB7EA9-9CA3-F07E-AFA6-967C78F2E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009273">
            <a:off x="8066465" y="1408351"/>
            <a:ext cx="1367926" cy="12874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8DA64DF-6880-123B-DE46-EC6CA7FD2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97002">
            <a:off x="-332052" y="3888618"/>
            <a:ext cx="1367926" cy="12874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387</Words>
  <Application>Microsoft Office PowerPoint</Application>
  <PresentationFormat>Экран (16:9)</PresentationFormat>
  <Paragraphs>41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Symbol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Николай Соломенников</cp:lastModifiedBy>
  <cp:revision>6</cp:revision>
  <dcterms:created xsi:type="dcterms:W3CDTF">2025-11-11T22:02:50Z</dcterms:created>
  <dcterms:modified xsi:type="dcterms:W3CDTF">2025-11-19T03:55:04Z</dcterms:modified>
</cp:coreProperties>
</file>