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2" r:id="rId5"/>
    <p:sldId id="260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3D2D0-308B-4B12-8088-85C28DE231CD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A4EBD-50A0-44DD-971F-1DCA6AD1D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03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A4EBD-50A0-44DD-971F-1DCA6AD1DC2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471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E2BF3-C2B5-9FF8-FD11-71D1C82B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9CBDAD-3209-A44A-FA5E-693CC1724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417BDA-5D94-C9CD-F461-40F5035A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4948-5249-41CF-936C-AEB46DC8EEB6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2D2831-8B76-ED19-CCEB-43F6DB75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57C180-FA6B-49AC-0C7C-2AF9AF21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31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506EA-34E7-7D87-B0A9-27ACF4F6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BC1454-65A0-5363-0AB7-02E7FBAC1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9B5F7D-759F-FDBC-BA52-96107387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AA62-900E-4FAE-B55B-EEECD7DBD9B8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AA3374-8561-06DF-B05A-EE71237E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DC4D8-BD9C-2F40-F1FD-D1FACCEE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09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BAD27-E783-84B5-6B64-DF61CFE7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7BA97E-B8F7-0FB1-6011-BAB41931B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C6AF02-9D30-BDED-DB54-3B919565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8C42-D41A-4AE5-8CD2-B14AD7429462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C1113D-CCFD-DB09-EC41-54F91AAA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7D3D68-3727-7A8D-B445-C121C1A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29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48BF1-1971-A945-3C90-ECF1341A0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AFE6B7-7320-3CD3-2A2D-FB7D9AFBE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6F5FDC-1775-0CF6-5591-8F13610CE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F8BC94-73DF-90FE-4E85-2BA8BFD1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E6E-266B-4398-BA12-EA64C9916673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03AFC4-52CA-BB21-59D0-81060532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9FD419-BB78-DACD-8128-5DBDD9D2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76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2C438-E8FC-582E-94AF-F7A7E781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E3C040-86AB-54C1-5A2F-99E23C4F6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C8AEBD-EF92-E615-DFCD-36586ABF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46F514-B33C-CCEA-8E19-F9DFCDE66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E077EB-E4E7-299D-4033-1E442D3B3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95A055-30F6-DE7C-336D-4B4FEA30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7DBE-347B-4237-A52F-935154000E22}" type="datetime1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999343-0672-E902-FE0B-1D3AF27B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B569E8-642E-EF7B-8C0A-639B20AE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27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0A375-C92C-ACC9-F898-0A30D55C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5BBE9E-33AA-DB97-6451-FEA5BA9C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AB00-60DB-4FE2-9F94-CF426E8956FA}" type="datetime1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4A00CF-187A-6463-6B8D-059C392F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0C019E-45C1-F8A0-B1A1-3EAAC611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77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FC3BCB-639E-CF43-7129-F25B273C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6365-C342-4519-9DCA-87AF755436B1}" type="datetime1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92A8B4-3A2E-E934-7BA5-DF58088C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291EF0-6B85-4566-C127-30705DFA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75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6E1DE-C846-01F2-EB56-8FF5C75B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A146D5-ADCA-D50E-5208-711494C42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FC165-662F-E3B8-F079-C1055FA98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535F4E-EF47-93B4-2C6E-A8FCBD49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22E2-EF48-4A66-8461-3D5F56A2EE5F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A1C510-2ED5-69D4-4BE4-2525AD56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07BECE-C9E7-0E5D-5C38-ABE420E6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55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A5963-541E-041B-EF7A-1E7AC93C2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55D2B65-9112-477F-B468-E9793D272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4E219D-CEED-E801-8FE6-2B89682DC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6E5E08-2910-EC42-B76A-4EE30640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A3D7-4626-4317-AA2C-C489A75F27D0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05A29B-7E2F-81ED-3D8F-44A7314D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DBEE07-B4FD-5F08-1C9C-9810C882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77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E5DE5-D661-2DAF-65BA-E105F836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0928EA-1D4C-3288-E5DB-E6FD9396E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D94548-7552-26B7-DD38-77845E7D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501B-190D-46B0-97F8-3802168ACEE7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9F332-6761-A7FA-195E-90EBB23B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9385BF-6360-52B3-2127-E51743A9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85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F95DCA-786D-1FF0-A534-8BE942224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BD1C1C-2017-B361-CE06-B653E80DC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E5243D-A65C-8BA4-C052-6267581DA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EE571-F868-40D0-B9EE-3DFEC42B0325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55D1FA-6359-5EC3-FA94-559DA365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6C91E1-945C-1560-BD46-F1E1A16E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6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67A0F-147F-AA41-B3FD-C5CCBC2C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479127-AB7D-3C98-FFB1-D5CDF53F9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D77E8E-D3B4-7043-8FE0-B81059B04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30C73-BDD4-41AE-A536-31B568C6C9C1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57BD5B-7AD0-5C11-E0DF-034794268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317CE7-20E2-5E9E-4134-A3D487A05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5FBF5-AD11-6C84-95F0-A2095613E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1376363"/>
            <a:ext cx="10401300" cy="23876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effectLst/>
              </a:rPr>
              <a:t>Разработка системы автоматизированного пополнения онтологической модели кафедры знаниями, извлечёнными из документов </a:t>
            </a:r>
            <a:br>
              <a:rPr lang="ru-RU" sz="4000" dirty="0">
                <a:effectLst/>
              </a:rPr>
            </a:b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2B9452-6309-48C3-6E54-408E76AB9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879" y="3763963"/>
            <a:ext cx="9144000" cy="2726644"/>
          </a:xfrm>
        </p:spPr>
        <p:txBody>
          <a:bodyPr>
            <a:noAutofit/>
          </a:bodyPr>
          <a:lstStyle/>
          <a:p>
            <a:pPr algn="l"/>
            <a:r>
              <a:rPr lang="ru-RU" sz="2000" dirty="0">
                <a:latin typeface="Outfit"/>
              </a:rPr>
              <a:t>Соломенников Николай Александрович</a:t>
            </a:r>
            <a:br>
              <a:rPr lang="ru-RU" sz="2000" dirty="0">
                <a:latin typeface="Outfit"/>
              </a:rPr>
            </a:br>
            <a:r>
              <a:rPr lang="ru-RU" sz="2000" dirty="0">
                <a:latin typeface="Outfit"/>
              </a:rPr>
              <a:t>Новосибирский государственный университет</a:t>
            </a:r>
          </a:p>
          <a:p>
            <a:pPr algn="l"/>
            <a:r>
              <a:rPr lang="ru-RU" sz="2000" dirty="0">
                <a:latin typeface="Outfit"/>
              </a:rPr>
              <a:t>Научный руководитель:</a:t>
            </a:r>
            <a:br>
              <a:rPr lang="ru-RU" sz="2000" dirty="0">
                <a:latin typeface="Outfit"/>
              </a:rPr>
            </a:br>
            <a:r>
              <a:rPr lang="ru-RU" sz="2000" dirty="0" err="1">
                <a:latin typeface="Outfit"/>
              </a:rPr>
              <a:t>Пальчунов</a:t>
            </a:r>
            <a:r>
              <a:rPr lang="ru-RU" sz="2000" dirty="0">
                <a:latin typeface="Outfit"/>
              </a:rPr>
              <a:t> Дмитрий Евгеньевич</a:t>
            </a:r>
            <a:br>
              <a:rPr lang="ru-RU" sz="2000" dirty="0">
                <a:latin typeface="Outfit"/>
              </a:rPr>
            </a:br>
            <a:r>
              <a:rPr lang="ru-RU" sz="2000" dirty="0">
                <a:latin typeface="Outfit"/>
              </a:rPr>
              <a:t>д-р физ.-мат. наук, акад. РИА, зав. кафедрой</a:t>
            </a:r>
            <a:br>
              <a:rPr lang="ru-RU" sz="2000" dirty="0">
                <a:latin typeface="Outfit"/>
              </a:rPr>
            </a:br>
            <a:r>
              <a:rPr lang="ru-RU" sz="2000" dirty="0">
                <a:latin typeface="Outfit"/>
              </a:rPr>
              <a:t>Институт математики им. С. Л. Соболева СО РАН</a:t>
            </a:r>
            <a:endParaRPr lang="ru-RU" sz="2000" b="0" u="none" strike="noStrike" dirty="0">
              <a:effectLst/>
              <a:latin typeface="Outfit"/>
            </a:endParaRPr>
          </a:p>
          <a:p>
            <a:pPr algn="l"/>
            <a:endParaRPr lang="ru-RU" sz="2000" dirty="0">
              <a:latin typeface="Outfi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E27D5C-8490-D9DA-E387-A09F7840C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4818232"/>
            <a:ext cx="2095500" cy="20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9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F7355-A365-AF4D-7C5B-337F563A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</a:t>
            </a:r>
            <a:r>
              <a:rPr lang="ru-RU" dirty="0">
                <a:effectLst/>
              </a:rPr>
              <a:t>ктуальность и цель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6469C-B21C-95F7-4549-9D1A8B28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83025"/>
            <a:ext cx="5270500" cy="1971675"/>
          </a:xfrm>
        </p:spPr>
        <p:txBody>
          <a:bodyPr/>
          <a:lstStyle/>
          <a:p>
            <a:pPr marL="0" indent="0" algn="ctr">
              <a:buNone/>
            </a:pPr>
            <a:r>
              <a:rPr lang="ru-RU" b="1" u="none" strike="noStrike" dirty="0">
                <a:solidFill>
                  <a:srgbClr val="000000"/>
                </a:solidFill>
                <a:effectLst/>
                <a:latin typeface="Outfit"/>
              </a:rPr>
              <a:t>Актуальность</a:t>
            </a:r>
          </a:p>
          <a:p>
            <a:pPr marL="0" indent="0" algn="ctr">
              <a:buNone/>
            </a:pPr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Необходимость автоматизации пополнения онтологической модели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D00F12-4E30-70AF-D7FA-1AD99A43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441" y="2020768"/>
            <a:ext cx="1743318" cy="1705213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04331E9A-0954-636A-8D1C-0EB6B7D88BDE}"/>
              </a:ext>
            </a:extLst>
          </p:cNvPr>
          <p:cNvSpPr txBox="1">
            <a:spLocks/>
          </p:cNvSpPr>
          <p:nvPr/>
        </p:nvSpPr>
        <p:spPr>
          <a:xfrm>
            <a:off x="6038850" y="3883025"/>
            <a:ext cx="5270500" cy="1971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u="none" strike="noStrike" dirty="0">
                <a:solidFill>
                  <a:srgbClr val="000000"/>
                </a:solidFill>
                <a:effectLst/>
                <a:latin typeface="Outfit"/>
              </a:rPr>
              <a:t>Цель</a:t>
            </a:r>
          </a:p>
          <a:p>
            <a:pPr marL="0" indent="0" algn="ctr">
              <a:buNone/>
            </a:pPr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Разработка </a:t>
            </a:r>
            <a:r>
              <a:rPr lang="ru-RU" dirty="0">
                <a:solidFill>
                  <a:srgbClr val="000000"/>
                </a:solidFill>
                <a:latin typeface="Outfit"/>
              </a:rPr>
              <a:t>системы</a:t>
            </a:r>
            <a:endParaRPr lang="ru-RU" b="0" u="none" strike="noStrike" dirty="0">
              <a:solidFill>
                <a:srgbClr val="000000"/>
              </a:solidFill>
              <a:effectLst/>
              <a:latin typeface="Outfi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423233-8F7D-7038-F49C-62028A6A3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914" y="2049347"/>
            <a:ext cx="1762371" cy="1676634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11D619F-F75B-5290-059F-533BE87A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212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69F0D-E168-64EE-4715-A72C6240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Ключевая архитектурная идея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A7FD4A-575E-058F-7E0D-7ADFB133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u="none" strike="noStrike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Разделении процессов извлечения данных и извлечения знаний 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1A78CD-6348-810A-45F9-BEFC9DBB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3810000"/>
            <a:ext cx="10448478" cy="1577023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1F0481-5DA5-49DD-4EDA-D7B52B0F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8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A9996-9BF8-68D4-DB4D-39C895FB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Модульность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74FA7F-01DB-05EA-BF2A-337F52551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07" y="3809867"/>
            <a:ext cx="10109201" cy="2394082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5F96AC-7270-3050-9EA6-999B1329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4</a:t>
            </a:fld>
            <a:endParaRPr lang="ru-RU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0EAFA210-32E0-9D61-59A6-F244CB1F0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5915" y="1592666"/>
            <a:ext cx="10740167" cy="2064800"/>
          </a:xfrm>
        </p:spPr>
      </p:pic>
    </p:spTree>
    <p:extLst>
      <p:ext uri="{BB962C8B-B14F-4D97-AF65-F5344CB8AC3E}">
        <p14:creationId xmlns:p14="http://schemas.microsoft.com/office/powerpoint/2010/main" val="426999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90666-BC7C-8BAE-147C-2F3E1AFC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1AB082-DDEA-5A99-E206-DEC17D646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692523"/>
            <a:ext cx="3479800" cy="1527175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Устойчивая экстракция с применением ИИ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8ED20C5-2995-EF4E-35E3-E2891901A679}"/>
              </a:ext>
            </a:extLst>
          </p:cNvPr>
          <p:cNvSpPr txBox="1">
            <a:spLocks/>
          </p:cNvSpPr>
          <p:nvPr/>
        </p:nvSpPr>
        <p:spPr>
          <a:xfrm>
            <a:off x="4356100" y="3692525"/>
            <a:ext cx="3479800" cy="152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effectLst/>
              </a:rPr>
              <a:t>Многоуровневая валидация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8BDCA0A-50F5-D2E9-AB7B-85EC6651F47F}"/>
              </a:ext>
            </a:extLst>
          </p:cNvPr>
          <p:cNvSpPr txBox="1">
            <a:spLocks/>
          </p:cNvSpPr>
          <p:nvPr/>
        </p:nvSpPr>
        <p:spPr>
          <a:xfrm>
            <a:off x="8026400" y="3692523"/>
            <a:ext cx="3479800" cy="152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Автоматическая генерация шаблонов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6BB9DF-FFC9-5BED-ACB3-FC52B4539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8519"/>
            <a:ext cx="10515600" cy="1415111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AF252B4-0CD4-4D38-B454-DB536A1B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76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658AC-003E-BF20-808A-86F0A5253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Шаблоны извлечения знаний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967E82-2AA8-8F06-2BA5-9EBB2141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677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Шаблон - программный модуль, содержащий правила распознавания документа и извлечения знаний 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AD999BD-0623-679E-01E8-E8540FE4E3A4}"/>
              </a:ext>
            </a:extLst>
          </p:cNvPr>
          <p:cNvSpPr txBox="1">
            <a:spLocks/>
          </p:cNvSpPr>
          <p:nvPr/>
        </p:nvSpPr>
        <p:spPr>
          <a:xfrm>
            <a:off x="838200" y="2992437"/>
            <a:ext cx="10515600" cy="321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Достоинства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Гибкость реализации правил извлечения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Возможность предварительной обработки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Учёт структуры документа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Масштабируемость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E20E16-029A-165C-6236-4637A982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00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B453-2ABD-F0A3-E41F-2ACB1CD9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UI-UX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19BC5-76FA-79A4-F712-FA755758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7</a:t>
            </a:fld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73AA8A4-965A-5BB8-4590-00A82F418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801" y="1238055"/>
            <a:ext cx="5969157" cy="41823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FE7E6E22-20E0-45E3-3F6A-B7E197F5C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1719" y="2341677"/>
            <a:ext cx="5799364" cy="4063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717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1283A-1AF2-6FED-A7D3-1ED0E09C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Заключение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444173-7B04-4C74-CA38-C6E71D4B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8</a:t>
            </a:fld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A4CF5E8-A0B7-39A6-A69E-90BBBF2BD9A4}"/>
              </a:ext>
            </a:extLst>
          </p:cNvPr>
          <p:cNvSpPr txBox="1">
            <a:spLocks/>
          </p:cNvSpPr>
          <p:nvPr/>
        </p:nvSpPr>
        <p:spPr>
          <a:xfrm>
            <a:off x="838200" y="1820068"/>
            <a:ext cx="10515600" cy="321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Сделано</a:t>
            </a:r>
            <a:r>
              <a:rPr lang="en-US" b="1" dirty="0"/>
              <a:t>:</a:t>
            </a:r>
            <a:endParaRPr lang="ru-RU" b="1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Разработан внутренний формат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Описан </a:t>
            </a:r>
            <a:r>
              <a:rPr lang="en-US" dirty="0"/>
              <a:t>DSL </a:t>
            </a:r>
            <a:r>
              <a:rPr lang="ru-RU" dirty="0"/>
              <a:t>для шаблонов извлечения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Проработан </a:t>
            </a:r>
            <a:r>
              <a:rPr lang="en-US" dirty="0"/>
              <a:t>UI-UX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Система протестирована на документах учебного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423453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A7B4E-8BA4-3DF1-3127-39294EF6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r>
              <a:rPr lang="en-US" dirty="0"/>
              <a:t>!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99C8C6-1A2A-5F55-A848-106335D0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3613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150</Words>
  <Application>Microsoft Office PowerPoint</Application>
  <PresentationFormat>Широкоэкранный</PresentationFormat>
  <Paragraphs>39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Outfit</vt:lpstr>
      <vt:lpstr>Roboto</vt:lpstr>
      <vt:lpstr>Тема Office</vt:lpstr>
      <vt:lpstr>Разработка системы автоматизированного пополнения онтологической модели кафедры знаниями, извлечёнными из документов  </vt:lpstr>
      <vt:lpstr>Актуальность и цель</vt:lpstr>
      <vt:lpstr>Ключевая архитектурная идея </vt:lpstr>
      <vt:lpstr>Модульность</vt:lpstr>
      <vt:lpstr>Архитектурные решения</vt:lpstr>
      <vt:lpstr>Шаблоны извлечения знаний</vt:lpstr>
      <vt:lpstr>UI-UX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Соломенников</dc:creator>
  <cp:lastModifiedBy>Николай Соломенников</cp:lastModifiedBy>
  <cp:revision>7</cp:revision>
  <dcterms:created xsi:type="dcterms:W3CDTF">2026-01-29T04:57:20Z</dcterms:created>
  <dcterms:modified xsi:type="dcterms:W3CDTF">2026-04-20T04:04:37Z</dcterms:modified>
</cp:coreProperties>
</file>